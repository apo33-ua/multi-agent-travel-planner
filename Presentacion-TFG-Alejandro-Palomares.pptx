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4577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Orquestador multiagente</a:t>
            </a:r>
          </a:p>
          <a:p>
            <a:pPr algn="l">
              <a:spcAft>
                <a:spcPts val="18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de planificación de viajes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Trabajo Fin de Grado · Grado en Ingeniería Informática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Autor: Alejandro Palomares Ortega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Tutores: David Tomás Díaz · José Luis Vicedo González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Escuela Politécnica Superior · Universidad de Alicante · Junio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F667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0242B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400" b="0">
                <a:solidFill>
                  <a:srgbClr val="20242B"/>
                </a:solidFill>
                <a:latin typeface="Calibri"/>
              </a:rPr>
              <a:t>•  1.  ¿En qué consiste el proyecto?</a:t>
            </a:r>
          </a:p>
          <a:p>
            <a:pPr algn="l">
              <a:spcAft>
                <a:spcPts val="1800"/>
              </a:spcAft>
            </a:pPr>
            <a:r>
              <a:rPr sz="2400" b="0">
                <a:solidFill>
                  <a:srgbClr val="20242B"/>
                </a:solidFill>
                <a:latin typeface="Calibri"/>
              </a:rPr>
              <a:t>•  2.  Conceptos: LLM y agentes</a:t>
            </a:r>
          </a:p>
          <a:p>
            <a:pPr algn="l">
              <a:spcAft>
                <a:spcPts val="1800"/>
              </a:spcAft>
            </a:pPr>
            <a:r>
              <a:rPr sz="2400" b="0">
                <a:solidFill>
                  <a:srgbClr val="20242B"/>
                </a:solidFill>
                <a:latin typeface="Calibri"/>
              </a:rPr>
              <a:t>•  3.  Herramientas y tecnologías</a:t>
            </a:r>
          </a:p>
          <a:p>
            <a:pPr algn="l">
              <a:spcAft>
                <a:spcPts val="1800"/>
              </a:spcAft>
            </a:pPr>
            <a:r>
              <a:rPr sz="2400" b="0">
                <a:solidFill>
                  <a:srgbClr val="20242B"/>
                </a:solidFill>
                <a:latin typeface="Calibri"/>
              </a:rPr>
              <a:t>•  4.  Arquitectura del sistema</a:t>
            </a:r>
          </a:p>
          <a:p>
            <a:pPr algn="l">
              <a:spcAft>
                <a:spcPts val="1800"/>
              </a:spcAft>
            </a:pPr>
            <a:r>
              <a:rPr sz="2400" b="0">
                <a:solidFill>
                  <a:srgbClr val="20242B"/>
                </a:solidFill>
                <a:latin typeface="Calibri"/>
              </a:rPr>
              <a:t>•  5.  Demo</a:t>
            </a:r>
          </a:p>
          <a:p>
            <a:pPr algn="l">
              <a:spcAft>
                <a:spcPts val="1800"/>
              </a:spcAft>
            </a:pPr>
            <a:r>
              <a:rPr sz="2400" b="0">
                <a:solidFill>
                  <a:srgbClr val="20242B"/>
                </a:solidFill>
                <a:latin typeface="Calibri"/>
              </a:rPr>
              <a:t>•  6.  Conclusiones y trabajo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F66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0242B"/>
                </a:solidFill>
                <a:latin typeface="Calibri"/>
              </a:rPr>
              <a:t>¿En qué consiste el proyecto?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Planificar un viaje obliga a saltar entre Skyscanner, Booking, Google Maps y el tiempo, y cuadrarlo todo a mano. No hay nada que lo integre.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Solución: un backend que recibe una petición en lenguaje natural y devuelve un itinerario completo.</a:t>
            </a:r>
          </a:p>
          <a:p>
            <a:pPr algn="l" lvl="1">
              <a:spcAft>
                <a:spcPts val="1600"/>
              </a:spcAft>
            </a:pPr>
            <a:r>
              <a:rPr sz="1800" b="0">
                <a:solidFill>
                  <a:srgbClr val="5F6670"/>
                </a:solidFill>
                <a:latin typeface="Calibri"/>
              </a:rPr>
              <a:t>–  Vuelos + hoteles + previsión meteorológica + plan turístico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Coordina varios agentes especializados mediante un grafo de orquestación.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Toma decisiones explícitas: activa o desactiva agentes según el viaje y filtra las opciones por presupuesto.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F66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0242B"/>
                </a:solidFill>
                <a:latin typeface="Calibri"/>
              </a:rPr>
              <a:t>Conceptos: LLM y 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LLM (Large Language Model): modelo que genera y razona sobre lenguaje natural. Aquí, Google Gemini.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Agente: combina el LLM con herramientas externas (APIs) para resolver una tarea concreta.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Sistema multiagente: varios agentes cooperan sobre un estado compartido, coordinados por un supervisor.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Idea central del diseño: separar la decisión determinista (Python) de la generación (LLM).</a:t>
            </a:r>
          </a:p>
          <a:p>
            <a:pPr algn="l" lvl="1">
              <a:spcAft>
                <a:spcPts val="1600"/>
              </a:spcAft>
            </a:pPr>
            <a:r>
              <a:rPr sz="1800" b="0">
                <a:solidFill>
                  <a:srgbClr val="5F6670"/>
                </a:solidFill>
                <a:latin typeface="Calibri"/>
              </a:rPr>
              <a:t>–  Los precios los calcula Python, no el LLM → resultados reales, sin alucinaciones.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F66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0242B"/>
                </a:solidFill>
                <a:latin typeface="Calibri"/>
              </a:rPr>
              <a:t>Herramientas y tecnologías —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Lenguaje: Python 3.14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Orquestación: LangGraph (grafo de estados) + LangChain (capa de modelo)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LLM: Google Gemini (2.5 Flash / Flash-Lite / Pro)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APIs externas: SerpApi (Google Flights / Hotels) · OpenWeather (clima)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Backend: FastAPI (endpoint REST /plan) · Frontend: Next.js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Pruebas: pytest (58 tests)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F66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0242B"/>
                </a:solidFill>
                <a:latin typeface="Calibri"/>
              </a:rPr>
              <a:t>Herramientas y tecnologías —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Patrón Live / Caché / Mock: desarrollar y demostrar sin gastar cuota ni depender de la red.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Resiliencia: reintentos con backoff exponencial + fallback en cascada entre modelos.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Credenciales fuera del código, en variables de entorno.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20242B"/>
                </a:solidFill>
                <a:latin typeface="Calibri"/>
              </a:rPr>
              <a:t>•  Validación presupuestaria 100 % determinista: los números los calcula Python, no el LLM.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F66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0242B"/>
                </a:solidFill>
                <a:latin typeface="Calibri"/>
              </a:rPr>
              <a:t>Arquitectura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3108960"/>
          </a:xfrm>
          <a:prstGeom prst="rect">
            <a:avLst/>
          </a:prstGeom>
          <a:solidFill>
            <a:srgbClr val="EFF2F6"/>
          </a:solidFill>
          <a:ln>
            <a:solidFill>
              <a:srgbClr val="CC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5F6670"/>
                </a:solidFill>
                <a:latin typeface="Calibri"/>
              </a:rPr>
              <a:t>[ Inserta aquí la Figura 7.1 de la memoria: diagrama del orquestador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0242B"/>
                </a:solidFill>
                <a:latin typeface="Calibri"/>
              </a:rPr>
              <a:t>Enrutador → Agente Turístico → Fetch (fan-out: Vuelos ∥ Hoteles) → Nodo Presupuestario (fan-in) → Agente Climático → Síntesis → Itinerario en Markdown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F66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Demo</a:t>
            </a:r>
          </a:p>
          <a:p>
            <a:pPr algn="ctr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Ejemplo: Roma · 20–24 mayo · MAD · 800 € · "viaje cultural"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F66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0242B"/>
                </a:solidFill>
                <a:latin typeface="Calibri"/>
              </a:rPr>
              <a:t>Conclusiones y 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A73E8"/>
                </a:solidFill>
                <a:latin typeface="Calibri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4577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0242B"/>
                </a:solidFill>
                <a:latin typeface="Calibri"/>
              </a:rPr>
              <a:t>•  Backend funcional que integra cuatro dominios en un único itinerario.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0242B"/>
                </a:solidFill>
                <a:latin typeface="Calibri"/>
              </a:rPr>
              <a:t>•  Enrutamiento dinámico: cada petición sigue su propio camino en el grafo.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0242B"/>
                </a:solidFill>
                <a:latin typeface="Calibri"/>
              </a:rPr>
              <a:t>•  Precios reales y trazables; arquitectura modular y extensible.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A73E8"/>
                </a:solidFill>
                <a:latin typeface="Calibri"/>
              </a:rPr>
              <a:t>Trabajo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0242B"/>
                </a:solidFill>
                <a:latin typeface="Calibri"/>
              </a:rPr>
              <a:t>•  Multi-ciudad y búsqueda con fechas flexibles.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0242B"/>
                </a:solidFill>
                <a:latin typeface="Calibri"/>
              </a:rPr>
              <a:t>•  Persistencia y perfiles de usuario.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0242B"/>
                </a:solidFill>
                <a:latin typeface="Calibri"/>
              </a:rPr>
              <a:t>•  Nuevos agentes (trenes, restauración) y monetización por afiliación.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F66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¡Gracias por su atención!</a:t>
            </a:r>
          </a:p>
          <a:p>
            <a:pPr algn="ctr">
              <a:spcAft>
                <a:spcPts val="10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Orquestador multiagente de planificación de viajes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Alejandro Palomares Ortega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github.com/apo33-ua/TFG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F66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